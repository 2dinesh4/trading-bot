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4630400" cy="87788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AD47"/>
    <a:srgbClr val="4F81BD"/>
    <a:srgbClr val="4472C4"/>
    <a:srgbClr val="B9993A"/>
    <a:srgbClr val="8C8C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9572" autoAdjust="0"/>
    <p:restoredTop sz="94660"/>
  </p:normalViewPr>
  <p:slideViewPr>
    <p:cSldViewPr snapToGrid="0" snapToObjects="1">
      <p:cViewPr>
        <p:scale>
          <a:sx n="66" d="100"/>
          <a:sy n="66" d="100"/>
        </p:scale>
        <p:origin x="508" y="-948"/>
      </p:cViewPr>
      <p:guideLst>
        <p:guide orient="horz" pos="230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8A339E-9BC8-4F59-B72B-EC6B3244B11F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1143000"/>
            <a:ext cx="5143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24F02E-1302-400E-9B19-D37F24F0F8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7609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4F02E-1302-400E-9B19-D37F24F0F83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8795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72618"/>
            <a:ext cx="7772400" cy="15681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145580"/>
            <a:ext cx="6400800" cy="18695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701034"/>
            <a:ext cx="7772400" cy="145298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100719"/>
            <a:ext cx="7772400" cy="1600315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07004"/>
            <a:ext cx="4038600" cy="482804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07004"/>
            <a:ext cx="4038600" cy="482804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37572"/>
            <a:ext cx="4040188" cy="6824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20035"/>
            <a:ext cx="4040188" cy="42150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637572"/>
            <a:ext cx="4041775" cy="6824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320035"/>
            <a:ext cx="4041775" cy="42150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1274"/>
            <a:ext cx="3008313" cy="123961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91275"/>
            <a:ext cx="5111750" cy="624377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530885"/>
            <a:ext cx="3008313" cy="50041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121011"/>
            <a:ext cx="5486400" cy="60456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53674"/>
            <a:ext cx="5486400" cy="43894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25574"/>
            <a:ext cx="5486400" cy="85858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92969"/>
            <a:ext cx="2057400" cy="624207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92969"/>
            <a:ext cx="6019800" cy="624207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92968"/>
            <a:ext cx="8229600" cy="1219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07004"/>
            <a:ext cx="8229600" cy="48280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780598"/>
            <a:ext cx="2133600" cy="3894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780598"/>
            <a:ext cx="2895600" cy="3894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780598"/>
            <a:ext cx="2133600" cy="3894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457518"/>
            <a:ext cx="465601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E3C"/>
                </a:solidFill>
              </a:defRPr>
            </a:pPr>
            <a:r>
              <a:rPr sz="3200" dirty="0"/>
              <a:t>Overall Program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6158"/>
            <a:ext cx="142699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rPr sz="1400" dirty="0"/>
              <a:t>As of Dec</a:t>
            </a:r>
            <a:r>
              <a:rPr lang="en-US" sz="1400" dirty="0"/>
              <a:t> : </a:t>
            </a:r>
            <a:r>
              <a:rPr sz="1400" dirty="0"/>
              <a:t>1</a:t>
            </a:r>
            <a:r>
              <a:rPr lang="en-US" sz="1400" dirty="0"/>
              <a:t>5</a:t>
            </a:r>
            <a:r>
              <a:rPr sz="1400" dirty="0"/>
              <a:t>-</a:t>
            </a:r>
            <a:r>
              <a:rPr lang="en-US" sz="1400" dirty="0"/>
              <a:t>19</a:t>
            </a:r>
            <a:endParaRPr sz="1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134583"/>
              </p:ext>
            </p:extLst>
          </p:nvPr>
        </p:nvGraphicFramePr>
        <p:xfrm>
          <a:off x="10132262" y="101969"/>
          <a:ext cx="3931920" cy="117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351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Resources</a:t>
                      </a:r>
                    </a:p>
                  </a:txBody>
                  <a:tcPr>
                    <a:solidFill>
                      <a:srgbClr val="141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Timeline</a:t>
                      </a:r>
                    </a:p>
                  </a:txBody>
                  <a:tcPr>
                    <a:solidFill>
                      <a:srgbClr val="141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RAID</a:t>
                      </a:r>
                    </a:p>
                  </a:txBody>
                  <a:tcPr>
                    <a:solidFill>
                      <a:srgbClr val="141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Overall</a:t>
                      </a:r>
                    </a:p>
                    <a:p>
                      <a:r>
                        <a:rPr dirty="0"/>
                        <a:t>Program</a:t>
                      </a:r>
                    </a:p>
                    <a:p>
                      <a:r>
                        <a:rPr dirty="0"/>
                        <a:t>Status</a:t>
                      </a:r>
                    </a:p>
                  </a:txBody>
                  <a:tcPr>
                    <a:solidFill>
                      <a:srgbClr val="141E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006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G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A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A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A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74320" y="1368294"/>
            <a:ext cx="14081760" cy="365760"/>
          </a:xfrm>
          <a:prstGeom prst="rect">
            <a:avLst/>
          </a:prstGeom>
          <a:solidFill>
            <a:srgbClr val="141E3C"/>
          </a:solidFill>
          <a:ln>
            <a:solidFill>
              <a:srgbClr val="141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sz="1400"/>
              <a:t>Overall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37891"/>
            <a:ext cx="14081760" cy="1051222"/>
          </a:xfrm>
          <a:prstGeom prst="rect">
            <a:avLst/>
          </a:prstGeom>
          <a:solidFill>
            <a:srgbClr val="E6E6E6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86603" y="2958270"/>
            <a:ext cx="8686800" cy="365760"/>
          </a:xfrm>
          <a:prstGeom prst="rect">
            <a:avLst/>
          </a:prstGeom>
          <a:solidFill>
            <a:srgbClr val="141E3C"/>
          </a:solidFill>
          <a:ln>
            <a:solidFill>
              <a:srgbClr val="141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sz="1400" dirty="0"/>
              <a:t>Key Accomplishment for the period:</a:t>
            </a:r>
          </a:p>
        </p:txBody>
      </p:sp>
      <p:sp>
        <p:nvSpPr>
          <p:cNvPr id="8" name="Rectangle 7"/>
          <p:cNvSpPr/>
          <p:nvPr/>
        </p:nvSpPr>
        <p:spPr>
          <a:xfrm>
            <a:off x="298886" y="3312433"/>
            <a:ext cx="8686800" cy="2168486"/>
          </a:xfrm>
          <a:prstGeom prst="rect">
            <a:avLst/>
          </a:prstGeom>
          <a:solidFill>
            <a:srgbClr val="E6E6E6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/>
          </a:p>
          <a:p>
            <a:r>
              <a:rPr lang="en-US" sz="1400" dirty="0">
                <a:solidFill>
                  <a:schemeClr val="tx1"/>
                </a:solidFill>
              </a:rPr>
              <a:t>• Hybrid engine implemented (real-time data + simulated execution)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• Safety balance checks validated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• Email alert system fixed (SMTP SSL – Port 465)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• End-to-end trade lifecycle tested successfully</a:t>
            </a:r>
          </a:p>
          <a:p>
            <a:endParaRPr sz="14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98886" y="5523934"/>
            <a:ext cx="8686800" cy="365760"/>
          </a:xfrm>
          <a:prstGeom prst="rect">
            <a:avLst/>
          </a:prstGeom>
          <a:solidFill>
            <a:srgbClr val="141E3C"/>
          </a:solidFill>
          <a:ln>
            <a:solidFill>
              <a:srgbClr val="141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sz="1400"/>
              <a:t>Planned Activities next period: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8886" y="5874011"/>
            <a:ext cx="8686800" cy="1995460"/>
          </a:xfrm>
          <a:prstGeom prst="rect">
            <a:avLst/>
          </a:prstGeom>
          <a:solidFill>
            <a:srgbClr val="E6E6E6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• Configure production API keys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• Execute real-money pilot trade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• Finalize deployment and startup scripts</a:t>
            </a:r>
            <a:endParaRPr sz="1400" b="1" dirty="0">
              <a:solidFill>
                <a:schemeClr val="tx1"/>
              </a:solidFill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3942654"/>
              </p:ext>
            </p:extLst>
          </p:nvPr>
        </p:nvGraphicFramePr>
        <p:xfrm>
          <a:off x="8985686" y="2971449"/>
          <a:ext cx="5394960" cy="4898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12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3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173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41E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Milestone</a:t>
                      </a:r>
                    </a:p>
                  </a:txBody>
                  <a:tcPr>
                    <a:solidFill>
                      <a:srgbClr val="141E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RAG / Due</a:t>
                      </a:r>
                    </a:p>
                    <a:p>
                      <a:r>
                        <a:rPr dirty="0"/>
                        <a:t>Date</a:t>
                      </a:r>
                    </a:p>
                  </a:txBody>
                  <a:tcPr>
                    <a:solidFill>
                      <a:srgbClr val="141E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40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dirty="0"/>
                        <a:t>Environment Setup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dirty="0"/>
                        <a:t>11/</a:t>
                      </a:r>
                      <a:r>
                        <a:rPr lang="en-US" dirty="0"/>
                        <a:t>15</a:t>
                      </a:r>
                      <a:endParaRPr dirty="0"/>
                    </a:p>
                  </a:txBody>
                  <a:tcP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93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IN" dirty="0"/>
                        <a:t>DB &amp; Auth Integration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dirty="0"/>
                        <a:t>11/</a:t>
                      </a:r>
                      <a:r>
                        <a:rPr lang="en-IN" dirty="0"/>
                        <a:t>20</a:t>
                      </a:r>
                      <a:endParaRPr dirty="0"/>
                    </a:p>
                  </a:txBody>
                  <a:tcP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40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dirty="0"/>
                        <a:t>Sprint 0 – </a:t>
                      </a:r>
                      <a:r>
                        <a:rPr lang="en-IN" dirty="0"/>
                        <a:t>API Integrations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dirty="0"/>
                        <a:t>1</a:t>
                      </a:r>
                      <a:r>
                        <a:rPr lang="en-US" dirty="0"/>
                        <a:t>1</a:t>
                      </a:r>
                      <a:r>
                        <a:rPr dirty="0"/>
                        <a:t>/</a:t>
                      </a:r>
                      <a:r>
                        <a:rPr lang="en-US" dirty="0"/>
                        <a:t>25</a:t>
                      </a:r>
                      <a:endParaRPr dirty="0"/>
                    </a:p>
                  </a:txBody>
                  <a:tcPr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57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dirty="0"/>
                        <a:t>Sprint#1,2,3 - </a:t>
                      </a:r>
                      <a:r>
                        <a:rPr lang="en-IN" dirty="0"/>
                        <a:t>Trading Engine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dirty="0"/>
                        <a:t>1</a:t>
                      </a:r>
                      <a:r>
                        <a:rPr lang="en-US" dirty="0"/>
                        <a:t>2</a:t>
                      </a:r>
                      <a:r>
                        <a:rPr dirty="0"/>
                        <a:t>/</a:t>
                      </a:r>
                      <a:r>
                        <a:rPr lang="en-US" dirty="0"/>
                        <a:t>05</a:t>
                      </a:r>
                      <a:endParaRPr dirty="0"/>
                    </a:p>
                  </a:txBody>
                  <a:tcP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57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dirty="0"/>
                        <a:t>Sprint #4,5,6 – </a:t>
                      </a:r>
                      <a:r>
                        <a:rPr lang="en-IN" dirty="0"/>
                        <a:t>Email Alerts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dirty="0"/>
                        <a:t>12/08</a:t>
                      </a:r>
                      <a:endParaRPr dirty="0"/>
                    </a:p>
                  </a:txBody>
                  <a:tcP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40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dirty="0"/>
                        <a:t>Sprint #7,8,9 – </a:t>
                      </a:r>
                      <a:r>
                        <a:rPr lang="en-IN" dirty="0"/>
                        <a:t>Prod Hardening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dirty="0"/>
                        <a:t>1</a:t>
                      </a:r>
                      <a:r>
                        <a:rPr lang="en-US" dirty="0"/>
                        <a:t>2</a:t>
                      </a:r>
                      <a:r>
                        <a:rPr dirty="0"/>
                        <a:t>/</a:t>
                      </a:r>
                      <a:r>
                        <a:rPr lang="en-US" dirty="0"/>
                        <a:t>19</a:t>
                      </a:r>
                      <a:endParaRPr dirty="0"/>
                    </a:p>
                  </a:txBody>
                  <a:tcPr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040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IN" dirty="0"/>
                        <a:t>Pilot Trade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dirty="0"/>
                        <a:t>12/30</a:t>
                      </a:r>
                      <a:endParaRPr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040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IN" dirty="0"/>
                        <a:t>Optimization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dirty="0"/>
                        <a:t>2/29</a:t>
                      </a:r>
                      <a:endParaRPr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040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endParaRPr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040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endParaRPr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040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endParaRPr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2" name="Oval 11"/>
          <p:cNvSpPr/>
          <p:nvPr/>
        </p:nvSpPr>
        <p:spPr>
          <a:xfrm>
            <a:off x="3200400" y="8131702"/>
            <a:ext cx="182880" cy="18288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83280" y="8078872"/>
            <a:ext cx="67037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rPr sz="1100" dirty="0"/>
              <a:t>On track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0" y="8131702"/>
            <a:ext cx="182880" cy="18288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2081" y="8092757"/>
            <a:ext cx="57259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rPr sz="1100"/>
              <a:t>At Risk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0" y="8114769"/>
            <a:ext cx="182880" cy="1828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0" y="8092757"/>
            <a:ext cx="70564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rPr sz="1100" dirty="0"/>
              <a:t>Off Track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0" y="8114769"/>
            <a:ext cx="182880" cy="18288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1" y="8092419"/>
            <a:ext cx="81304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rPr sz="1100" dirty="0"/>
              <a:t>Completed</a:t>
            </a:r>
          </a:p>
        </p:txBody>
      </p:sp>
      <p:sp>
        <p:nvSpPr>
          <p:cNvPr id="20" name="Oval 19"/>
          <p:cNvSpPr/>
          <p:nvPr/>
        </p:nvSpPr>
        <p:spPr>
          <a:xfrm>
            <a:off x="10515600" y="8114769"/>
            <a:ext cx="182880" cy="182880"/>
          </a:xfrm>
          <a:prstGeom prst="ellipse">
            <a:avLst/>
          </a:prstGeom>
          <a:solidFill>
            <a:srgbClr val="A5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0" y="8074469"/>
            <a:ext cx="139974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rPr sz="1100" dirty="0"/>
              <a:t>Not Started /On Hold</a:t>
            </a:r>
          </a:p>
        </p:txBody>
      </p:sp>
      <p:sp>
        <p:nvSpPr>
          <p:cNvPr id="22" name="Oval 21"/>
          <p:cNvSpPr/>
          <p:nvPr/>
        </p:nvSpPr>
        <p:spPr>
          <a:xfrm>
            <a:off x="12344400" y="8114769"/>
            <a:ext cx="182880" cy="182880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527281" y="8074469"/>
            <a:ext cx="85953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rPr sz="1100" dirty="0"/>
              <a:t>No Baseline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888412-E0BC-4DBF-B02C-11933B948F09}"/>
              </a:ext>
            </a:extLst>
          </p:cNvPr>
          <p:cNvSpPr txBox="1"/>
          <p:nvPr/>
        </p:nvSpPr>
        <p:spPr>
          <a:xfrm>
            <a:off x="9344227" y="1838612"/>
            <a:ext cx="46778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tx1"/>
                </a:solidFill>
              </a:rPr>
              <a:t>Reason for Amber:</a:t>
            </a:r>
            <a:br>
              <a:rPr lang="en-IN" sz="1600" dirty="0">
                <a:solidFill>
                  <a:schemeClr val="tx1"/>
                </a:solidFill>
              </a:rPr>
            </a:br>
            <a:r>
              <a:rPr lang="en-IN" sz="1400" dirty="0">
                <a:solidFill>
                  <a:schemeClr val="tx1"/>
                </a:solidFill>
              </a:rPr>
              <a:t>1. </a:t>
            </a:r>
            <a:r>
              <a:rPr lang="en-US" sz="1400" dirty="0"/>
              <a:t>External dependency – Production Go-Live pending Real Trading API Keys from Project Manager.</a:t>
            </a:r>
            <a:endParaRPr lang="en-IN" sz="1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54D2AC-2928-4FC8-90D5-6F256821CAE9}"/>
              </a:ext>
            </a:extLst>
          </p:cNvPr>
          <p:cNvSpPr txBox="1"/>
          <p:nvPr/>
        </p:nvSpPr>
        <p:spPr>
          <a:xfrm>
            <a:off x="274320" y="1907134"/>
            <a:ext cx="87113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200"/>
            </a:pPr>
            <a:r>
              <a:rPr lang="en-US" sz="1400" dirty="0"/>
              <a:t>The </a:t>
            </a:r>
            <a:r>
              <a:rPr lang="en-US" sz="1400" dirty="0" err="1"/>
              <a:t>SmartTrade</a:t>
            </a:r>
            <a:r>
              <a:rPr lang="en-US" sz="1400" dirty="0"/>
              <a:t> Algo Trading system has completed critical development and hybrid architecture phases. The system is fully operational in simulation mode using real-time market data from </a:t>
            </a:r>
            <a:r>
              <a:rPr lang="en-US" sz="1400" dirty="0" err="1"/>
              <a:t>Binance</a:t>
            </a:r>
            <a:r>
              <a:rPr lang="en-US" sz="1400" dirty="0"/>
              <a:t>. All core modules are integrated and tested.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6045</TotalTime>
  <Words>227</Words>
  <Application>Microsoft Office PowerPoint</Application>
  <PresentationFormat>Custom</PresentationFormat>
  <Paragraphs>55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Lenovo</dc:creator>
  <cp:keywords/>
  <dc:description>generated using python-pptx</dc:description>
  <cp:lastModifiedBy>Lenovo</cp:lastModifiedBy>
  <cp:revision>20</cp:revision>
  <dcterms:created xsi:type="dcterms:W3CDTF">2013-01-27T09:14:16Z</dcterms:created>
  <dcterms:modified xsi:type="dcterms:W3CDTF">2025-12-22T09:53:23Z</dcterms:modified>
  <cp:category/>
</cp:coreProperties>
</file>